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267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ragon_Assuranc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807" y="731520"/>
            <a:ext cx="3688080" cy="2011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9260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A1A1A"/>
                </a:solidFill>
                <a:latin typeface="Calibri"/>
              </a:rPr>
              <a:t>PARAGON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118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D967A"/>
                </a:solidFill>
                <a:latin typeface="Calibri"/>
              </a:rPr>
              <a:t>Quality Assurance Validating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251960"/>
            <a:ext cx="3931920" cy="254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44348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Calibri"/>
              </a:rPr>
              <a:t>Biometric Student Attendance System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777777"/>
                </a:solidFill>
                <a:latin typeface="Calibri"/>
              </a:rPr>
              <a:t>Nevon Solutions (Team P2-1561W)  |  BioSec Educational Institution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77777"/>
                </a:solidFill>
                <a:latin typeface="Calibri"/>
              </a:rPr>
              <a:t>QA Auditor:  </a:t>
            </a:r>
            <a:r>
              <a:rPr sz="1600" b="1">
                <a:solidFill>
                  <a:srgbClr val="1A1A1A"/>
                </a:solidFill>
                <a:latin typeface="Calibri"/>
              </a:rPr>
              <a:t>Zong Han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80644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77777"/>
                </a:solidFill>
                <a:latin typeface="Calibri"/>
              </a:rPr>
              <a:t>19 March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617220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onsolas"/>
              </a:rPr>
              <a:t>PA-QAR-2026-001  |  Version 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1064240" cy="254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394960" cy="329184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E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1A1A"/>
                </a:solidFill>
                <a:latin typeface="Calibri"/>
              </a:rPr>
              <a:t>Audit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5029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Calibri"/>
              </a:rPr>
              <a:t>Paragon Assurance was engaged by BioSec Educational Institution to audit the RE process conducted by Nevon Solutions (P2-1561W) for the Biometric Student Attendance System.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Calibri"/>
              </a:rPr>
              <a:t>Scope:  </a:t>
            </a:r>
            <a:r>
              <a:rPr sz="1100" b="0">
                <a:solidFill>
                  <a:srgbClr val="333333"/>
                </a:solidFill>
                <a:latin typeface="Calibri"/>
              </a:rPr>
              <a:t>Three RE methods — Analysing, Specifying, Validating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Calibri"/>
              </a:rPr>
              <a:t>Excluded:  </a:t>
            </a:r>
            <a:r>
              <a:rPr sz="1100" b="0">
                <a:solidFill>
                  <a:srgbClr val="333333"/>
                </a:solidFill>
                <a:latin typeface="Calibri"/>
              </a:rPr>
              <a:t>Eliciting (conducted by BioSec, outside QA boundary)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Calibri"/>
              </a:rPr>
              <a:t>Error Type:  </a:t>
            </a:r>
            <a:r>
              <a:rPr sz="1100" b="0">
                <a:solidFill>
                  <a:srgbClr val="333333"/>
                </a:solidFill>
                <a:latin typeface="Calibri"/>
              </a:rPr>
              <a:t>Process Non-Compliance (sole QA error type)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Principal Artefacts Reviewed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0D967A"/>
                </a:solidFill>
                <a:latin typeface="Calibri"/>
              </a:rPr>
              <a:t>•  </a:t>
            </a:r>
            <a:r>
              <a:rPr sz="1000" b="0">
                <a:solidFill>
                  <a:srgbClr val="333333"/>
                </a:solidFill>
                <a:latin typeface="Calibri"/>
              </a:rPr>
              <a:t>Analysing Report (NS-AR-2026-001, v1.0, 08/02/2026)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0D967A"/>
                </a:solidFill>
                <a:latin typeface="Calibri"/>
              </a:rPr>
              <a:t>•  </a:t>
            </a:r>
            <a:r>
              <a:rPr sz="1000" b="0">
                <a:solidFill>
                  <a:srgbClr val="333333"/>
                </a:solidFill>
                <a:latin typeface="Calibri"/>
              </a:rPr>
              <a:t>Software Requirements Specification (NS-SRS-2026-001, v0.8, 03/03/2026)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0D967A"/>
                </a:solidFill>
                <a:latin typeface="Calibri"/>
              </a:rPr>
              <a:t>•  </a:t>
            </a:r>
            <a:r>
              <a:rPr sz="1000" b="0">
                <a:solidFill>
                  <a:srgbClr val="333333"/>
                </a:solidFill>
                <a:latin typeface="Calibri"/>
              </a:rPr>
              <a:t>Project Specification (BS-PS-2026-001, v1.0)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0D967A"/>
                </a:solidFill>
                <a:latin typeface="Calibri"/>
              </a:rPr>
              <a:t>•  </a:t>
            </a:r>
            <a:r>
              <a:rPr sz="1000" b="0">
                <a:solidFill>
                  <a:srgbClr val="333333"/>
                </a:solidFill>
                <a:latin typeface="Calibri"/>
              </a:rPr>
              <a:t>Requirements repository (GitHub)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0D967A"/>
                </a:solidFill>
                <a:latin typeface="Calibri"/>
              </a:rPr>
              <a:t>•  </a:t>
            </a:r>
            <a:r>
              <a:rPr sz="1000" b="0">
                <a:solidFill>
                  <a:srgbClr val="333333"/>
                </a:solidFill>
                <a:latin typeface="Calibri"/>
              </a:rPr>
              <a:t>QC Audit Report (Veridion Labs)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0D967A"/>
                </a:solidFill>
                <a:latin typeface="Calibri"/>
              </a:rPr>
              <a:t>•  </a:t>
            </a:r>
            <a:r>
              <a:rPr sz="1000" b="0">
                <a:solidFill>
                  <a:srgbClr val="333333"/>
                </a:solidFill>
                <a:latin typeface="Calibri"/>
              </a:rPr>
              <a:t>Clarification session records: BC-01, TC-02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94960" cy="3800348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E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1A1A"/>
                </a:solidFill>
                <a:latin typeface="Calibri"/>
              </a:rPr>
              <a:t>Summary of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4235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D93B3B"/>
                </a:solidFill>
                <a:latin typeface="Calibri"/>
              </a:rPr>
              <a:t>7 process non-compliance instances</a:t>
            </a:r>
            <a:r>
              <a:rPr sz="1300" b="0" dirty="0">
                <a:solidFill>
                  <a:srgbClr val="333333"/>
                </a:solidFill>
                <a:latin typeface="Calibri"/>
              </a:rPr>
              <a:t> identified across the three RE methods.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899554"/>
            <a:ext cx="1188720" cy="320040"/>
          </a:xfrm>
          <a:prstGeom prst="roundRect">
            <a:avLst/>
          </a:prstGeom>
          <a:solidFill>
            <a:srgbClr val="D9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88685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Calibri"/>
              </a:rPr>
              <a:t>1  </a:t>
            </a:r>
            <a:r>
              <a:rPr sz="1100" b="0">
                <a:solidFill>
                  <a:srgbClr val="777777"/>
                </a:solidFill>
                <a:latin typeface="Calibri"/>
              </a:rPr>
              <a:t>SRS Sign-off Absent — Validating Incomplete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283602"/>
            <a:ext cx="1005840" cy="320040"/>
          </a:xfrm>
          <a:prstGeom prst="roundRect">
            <a:avLst/>
          </a:prstGeom>
          <a:solidFill>
            <a:srgbClr val="E0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27090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Calibri"/>
              </a:rPr>
              <a:t>1  </a:t>
            </a:r>
            <a:r>
              <a:rPr sz="1100" b="0">
                <a:solidFill>
                  <a:srgbClr val="777777"/>
                </a:solidFill>
                <a:latin typeface="Calibri"/>
              </a:rPr>
              <a:t>Open Issues Unresolved Past Deadline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2667650"/>
            <a:ext cx="1188720" cy="320040"/>
          </a:xfrm>
          <a:prstGeom prst="roundRect">
            <a:avLst/>
          </a:prstGeom>
          <a:solidFill>
            <a:srgbClr val="C99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HIGH-MED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65495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Calibri"/>
              </a:rPr>
              <a:t>3  </a:t>
            </a:r>
            <a:r>
              <a:rPr sz="1100" b="0">
                <a:solidFill>
                  <a:srgbClr val="777777"/>
                </a:solidFill>
                <a:latin typeface="Calibri"/>
              </a:rPr>
              <a:t>2FA Contradiction, Enrolment Missing, Terminology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3051698"/>
            <a:ext cx="1005840" cy="320040"/>
          </a:xfrm>
          <a:prstGeom prst="roundRect">
            <a:avLst/>
          </a:prstGeom>
          <a:solidFill>
            <a:srgbClr val="D4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03899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Calibri"/>
              </a:rPr>
              <a:t>1  </a:t>
            </a:r>
            <a:r>
              <a:rPr sz="1100" b="0">
                <a:solidFill>
                  <a:srgbClr val="777777"/>
                </a:solidFill>
                <a:latin typeface="Calibri"/>
              </a:rPr>
              <a:t>SRS Below Version 1.0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3435746"/>
            <a:ext cx="1005840" cy="32004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42304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Calibri"/>
              </a:rPr>
              <a:t>1  </a:t>
            </a:r>
            <a:r>
              <a:rPr sz="1100" b="0">
                <a:solidFill>
                  <a:srgbClr val="777777"/>
                </a:solidFill>
                <a:latin typeface="Calibri"/>
              </a:rPr>
              <a:t>Grammatical Defect Uncorrected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858985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1A1A1A"/>
                </a:solidFill>
                <a:latin typeface="Calibri"/>
              </a:rPr>
              <a:t>Investigation Methods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087585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 b="1">
                <a:solidFill>
                  <a:srgbClr val="1A73E8"/>
                </a:solidFill>
                <a:latin typeface="Consolas"/>
              </a:rPr>
              <a:t>M1</a:t>
            </a:r>
            <a:r>
              <a:rPr sz="1100" b="0">
                <a:solidFill>
                  <a:srgbClr val="333333"/>
                </a:solidFill>
                <a:latin typeface="Calibri"/>
              </a:rPr>
              <a:t>  Artefact Inspection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1A73E8"/>
                </a:solidFill>
                <a:latin typeface="Consolas"/>
              </a:rPr>
              <a:t>M2</a:t>
            </a:r>
            <a:r>
              <a:rPr sz="1100" b="0">
                <a:solidFill>
                  <a:srgbClr val="333333"/>
                </a:solidFill>
                <a:latin typeface="Calibri"/>
              </a:rPr>
              <a:t>  Traceability &amp; Cross-Reference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1A73E8"/>
                </a:solidFill>
                <a:latin typeface="Consolas"/>
              </a:rPr>
              <a:t>M3</a:t>
            </a:r>
            <a:r>
              <a:rPr sz="1100" b="0">
                <a:solidFill>
                  <a:srgbClr val="333333"/>
                </a:solidFill>
                <a:latin typeface="Calibri"/>
              </a:rPr>
              <a:t>  Declaration &amp; Sign-Off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968748"/>
            <a:ext cx="11064240" cy="16738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04545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1A1A1A"/>
                </a:solidFill>
                <a:latin typeface="Calibri"/>
              </a:rPr>
              <a:t>Key Non-Compliance Areas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380228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0">
                <a:solidFill>
                  <a:srgbClr val="D93B3B"/>
                </a:solidFill>
                <a:latin typeface="Calibri"/>
              </a:rPr>
              <a:t>•  </a:t>
            </a:r>
            <a:r>
              <a:rPr sz="1100" b="1">
                <a:solidFill>
                  <a:srgbClr val="333333"/>
                </a:solidFill>
                <a:latin typeface="Calibri"/>
              </a:rPr>
              <a:t>The SRS has no customer or vendor signatures — all four approver fields are blank, no supplementary declaration found. The Validating method was not completed.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0D967A"/>
                </a:solidFill>
                <a:latin typeface="Calibri"/>
              </a:rPr>
              <a:t>•  </a:t>
            </a:r>
            <a:r>
              <a:rPr sz="1100" b="0">
                <a:solidFill>
                  <a:srgbClr val="333333"/>
                </a:solidFill>
                <a:latin typeface="Calibri"/>
              </a:rPr>
              <a:t>Three open issues from Analysing remain unresolved 11+ days past the stated deadline of 20/02/2026.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0D967A"/>
                </a:solidFill>
                <a:latin typeface="Calibri"/>
              </a:rPr>
              <a:t>•  </a:t>
            </a:r>
            <a:r>
              <a:rPr sz="1100" b="0">
                <a:solidFill>
                  <a:srgbClr val="333333"/>
                </a:solidFill>
                <a:latin typeface="Calibri"/>
              </a:rPr>
              <a:t>A 2FA scope contradiction, a missing biometric enrolment process, and a terminology inconsistency were not resolved during Analysing or Specifying.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0D967A"/>
                </a:solidFill>
                <a:latin typeface="Calibri"/>
              </a:rPr>
              <a:t>•  </a:t>
            </a:r>
            <a:r>
              <a:rPr sz="1100" b="0">
                <a:solidFill>
                  <a:srgbClr val="333333"/>
                </a:solidFill>
                <a:latin typeface="Calibri"/>
              </a:rPr>
              <a:t>The SRS was submitted at v0.8 (draft) — the Analysing Report was released at v1.0.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0D967A"/>
                </a:solidFill>
                <a:latin typeface="Calibri"/>
              </a:rPr>
              <a:t>•  </a:t>
            </a:r>
            <a:r>
              <a:rPr sz="1100" b="1">
                <a:solidFill>
                  <a:srgbClr val="1A73E8"/>
                </a:solidFill>
                <a:latin typeface="Calibri"/>
              </a:rPr>
              <a:t>No corrective actions prescribed. Findings are presented to BioSec for review and decision.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Calibri"/>
              </a:rPr>
              <a:t>Findings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1064240" cy="254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394960" cy="274320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E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05840" cy="320040"/>
          </a:xfrm>
          <a:prstGeom prst="roundRect">
            <a:avLst/>
          </a:prstGeom>
          <a:solidFill>
            <a:srgbClr val="D9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Calibri"/>
              </a:rPr>
              <a:t>PA-ERR-002: SRS Sign-off Entirely Absent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00" b="0">
                <a:solidFill>
                  <a:srgbClr val="0D967A"/>
                </a:solidFill>
                <a:latin typeface="Calibri"/>
              </a:rPr>
              <a:t>•  </a:t>
            </a:r>
            <a:r>
              <a:rPr sz="1100" b="0">
                <a:solidFill>
                  <a:srgbClr val="333333"/>
                </a:solidFill>
                <a:latin typeface="Calibri"/>
              </a:rPr>
              <a:t>All 4 approver fields in SRS §9 are blank — no names, signatures, or dates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00" b="0">
                <a:solidFill>
                  <a:srgbClr val="0D967A"/>
                </a:solidFill>
                <a:latin typeface="Calibri"/>
              </a:rPr>
              <a:t>•  </a:t>
            </a:r>
            <a:r>
              <a:rPr sz="1100" b="0">
                <a:solidFill>
                  <a:srgbClr val="333333"/>
                </a:solidFill>
                <a:latin typeface="Calibri"/>
              </a:rPr>
              <a:t>No supplementary declaration, signed confirmation, or interview record in entire repository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00" b="0">
                <a:solidFill>
                  <a:srgbClr val="0D967A"/>
                </a:solidFill>
                <a:latin typeface="Calibri"/>
              </a:rPr>
              <a:t>•  </a:t>
            </a:r>
            <a:r>
              <a:rPr sz="1100" b="0">
                <a:solidFill>
                  <a:srgbClr val="333333"/>
                </a:solidFill>
                <a:latin typeface="Calibri"/>
              </a:rPr>
              <a:t>Analysing Report sign-off correctly completed → team knows the protocol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00" b="0">
                <a:solidFill>
                  <a:srgbClr val="0D967A"/>
                </a:solidFill>
                <a:latin typeface="Calibri"/>
              </a:rPr>
              <a:t>•  </a:t>
            </a:r>
            <a:r>
              <a:rPr sz="1100" b="0">
                <a:solidFill>
                  <a:srgbClr val="333333"/>
                </a:solidFill>
                <a:latin typeface="Calibri"/>
              </a:rPr>
              <a:t>Validating method incomplete; SRS remains an unauthorised draft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100" b="1">
                <a:solidFill>
                  <a:srgbClr val="D93B3B"/>
                </a:solidFill>
                <a:latin typeface="Calibri"/>
              </a:rPr>
              <a:t>“If it's not signed, it's not complete. That process was not finished.”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94960" cy="155448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E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0" y="1234440"/>
            <a:ext cx="731520" cy="320040"/>
          </a:xfrm>
          <a:prstGeom prst="roundRect">
            <a:avLst/>
          </a:prstGeom>
          <a:solidFill>
            <a:srgbClr val="E0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Calibri"/>
              </a:rPr>
              <a:t>PA-ERR-001: Open Issues Unresolved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0D967A"/>
                </a:solidFill>
                <a:latin typeface="Calibri"/>
              </a:rPr>
              <a:t>•  </a:t>
            </a:r>
            <a:r>
              <a:rPr sz="1100" b="0">
                <a:solidFill>
                  <a:srgbClr val="333333"/>
                </a:solidFill>
                <a:latin typeface="Calibri"/>
              </a:rPr>
              <a:t>3 open issues from Analysing carried into SRS past 20/02/2026 deadline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0D967A"/>
                </a:solidFill>
                <a:latin typeface="Calibri"/>
              </a:rPr>
              <a:t>•  </a:t>
            </a:r>
            <a:r>
              <a:rPr sz="1100" b="0">
                <a:solidFill>
                  <a:srgbClr val="333333"/>
                </a:solidFill>
                <a:latin typeface="Calibri"/>
              </a:rPr>
              <a:t>RPO/RTO, MCS encryption handshake, biometric template storage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0D967A"/>
                </a:solidFill>
                <a:latin typeface="Calibri"/>
              </a:rPr>
              <a:t>•  </a:t>
            </a:r>
            <a:r>
              <a:rPr sz="1100" b="0">
                <a:solidFill>
                  <a:srgbClr val="333333"/>
                </a:solidFill>
                <a:latin typeface="Calibri"/>
              </a:rPr>
              <a:t>SRS dated 03/03/2026 — 11 days overdue; no formal deferral docs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834640"/>
            <a:ext cx="5394960" cy="301752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E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0" y="2971800"/>
            <a:ext cx="1188720" cy="320040"/>
          </a:xfrm>
          <a:prstGeom prst="roundRect">
            <a:avLst/>
          </a:prstGeom>
          <a:solidFill>
            <a:srgbClr val="C99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HIGH-MED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383280"/>
            <a:ext cx="5029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Calibri"/>
              </a:rPr>
              <a:t>Process Gaps (PA-ERR-003, 004, 005)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200" b="1">
                <a:solidFill>
                  <a:srgbClr val="1A73E8"/>
                </a:solidFill>
                <a:latin typeface="Calibri"/>
              </a:rPr>
              <a:t>2FA Contradiction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777777"/>
                </a:solidFill>
                <a:latin typeface="Calibri"/>
              </a:rPr>
              <a:t>Parents &amp; teachers (UR-MOB-06) vs administrators only (NFR-SEC-03) — never resolved in Clarify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200" b="1">
                <a:solidFill>
                  <a:srgbClr val="1A73E8"/>
                </a:solidFill>
                <a:latin typeface="Calibri"/>
              </a:rPr>
              <a:t>Enrolment Missing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777777"/>
                </a:solidFill>
                <a:latin typeface="Calibri"/>
              </a:rPr>
              <a:t>System needs fingerprints registered before it can scan — but no requirement for this process exists anywhere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200" b="1">
                <a:solidFill>
                  <a:srgbClr val="1A73E8"/>
                </a:solidFill>
                <a:latin typeface="Calibri"/>
              </a:rPr>
              <a:t>Terminology Inconsistency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777777"/>
                </a:solidFill>
                <a:latin typeface="Calibri"/>
              </a:rPr>
              <a:t>“Attended” vs “Present” vs different orderings across three locations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69080"/>
            <a:ext cx="5394960" cy="2606040"/>
          </a:xfrm>
          <a:prstGeom prst="roundRect">
            <a:avLst/>
          </a:prstGeom>
          <a:solidFill>
            <a:srgbClr val="FDF0F0"/>
          </a:solidFill>
          <a:ln w="12700">
            <a:solidFill>
              <a:srgbClr val="DE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160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93B3B"/>
                </a:solidFill>
                <a:latin typeface="Calibri"/>
              </a:rPr>
              <a:t>What does this mean for Nevon Solutions?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D93B3B"/>
                </a:solidFill>
                <a:latin typeface="Calibri"/>
              </a:rPr>
              <a:t>•  </a:t>
            </a:r>
            <a:r>
              <a:rPr sz="1100" b="1">
                <a:solidFill>
                  <a:srgbClr val="333333"/>
                </a:solidFill>
                <a:latin typeface="Calibri"/>
              </a:rPr>
              <a:t>The SRS </a:t>
            </a:r>
            <a:r>
              <a:rPr sz="1100" b="1">
                <a:solidFill>
                  <a:srgbClr val="D93B3B"/>
                </a:solidFill>
                <a:latin typeface="Calibri"/>
              </a:rPr>
              <a:t>cannot be accepted</a:t>
            </a:r>
            <a:r>
              <a:rPr sz="1100" b="1">
                <a:solidFill>
                  <a:srgbClr val="333333"/>
                </a:solidFill>
                <a:latin typeface="Calibri"/>
              </a:rPr>
              <a:t> as the contractual requirements baseline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100" b="0">
                <a:solidFill>
                  <a:srgbClr val="D93B3B"/>
                </a:solidFill>
                <a:latin typeface="Calibri"/>
              </a:rPr>
              <a:t>•  </a:t>
            </a:r>
            <a:r>
              <a:rPr sz="1100" b="0">
                <a:solidFill>
                  <a:srgbClr val="333333"/>
                </a:solidFill>
                <a:latin typeface="Calibri"/>
              </a:rPr>
              <a:t>Without sign-off, the document is still a draft — BioSec hasn’t formally agreed these are the right requirements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100" b="0">
                <a:solidFill>
                  <a:srgbClr val="D93B3B"/>
                </a:solidFill>
                <a:latin typeface="Calibri"/>
              </a:rPr>
              <a:t>•  </a:t>
            </a:r>
            <a:r>
              <a:rPr sz="1100" b="0">
                <a:solidFill>
                  <a:srgbClr val="333333"/>
                </a:solidFill>
                <a:latin typeface="Calibri"/>
              </a:rPr>
              <a:t>Even if sign-off were obtained today, the SRS still has unresolved open issues and a missing enrolment process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Calibri"/>
              </a:rPr>
              <a:t>Nevon needs to resolve these issues, bring the SRS to v1.0, and obtain proper sign-off before the document can be treated as final.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Calibri"/>
              </a:rPr>
              <a:t>QA Audit of QC Process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61120" y="274320"/>
            <a:ext cx="2926080" cy="502920"/>
          </a:xfrm>
          <a:prstGeom prst="roundRect">
            <a:avLst/>
          </a:prstGeom>
          <a:solidFill>
            <a:srgbClr val="1B8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0800" bIns="508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PROCESS-COMPLIANT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777777"/>
                </a:solidFill>
                <a:latin typeface="Calibri"/>
              </a:rPr>
              <a:t>Veridion Labs  |  4 Team Members  |  QC Audit of SRS (NS-SRS-2026-001)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254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520440" cy="173736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E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8A4A"/>
                </a:solidFill>
                <a:latin typeface="Calibri"/>
              </a:rPr>
              <a:t>✓ </a:t>
            </a:r>
            <a:r>
              <a:rPr sz="1400" b="1">
                <a:solidFill>
                  <a:srgbClr val="1A1A1A"/>
                </a:solidFill>
                <a:latin typeface="Calibri"/>
              </a:rPr>
              <a:t>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3246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777777"/>
                </a:solidFill>
                <a:latin typeface="Calibri"/>
              </a:rPr>
              <a:t>Target workproduct identified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777777"/>
                </a:solidFill>
                <a:latin typeface="Calibri"/>
              </a:rPr>
              <a:t>10 inspection techniques (exceeds min. 6)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777777"/>
                </a:solidFill>
                <a:latin typeface="Calibri"/>
              </a:rPr>
              <a:t>4 team members with assigned roles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777777"/>
                </a:solidFill>
                <a:latin typeface="Calibri"/>
              </a:rPr>
              <a:t>4-stage timeline (~6 hours)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520440" cy="173736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E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60" y="150876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8A4A"/>
                </a:solidFill>
                <a:latin typeface="Calibri"/>
              </a:rPr>
              <a:t>✓ </a:t>
            </a:r>
            <a:r>
              <a:rPr sz="1400" b="1">
                <a:solidFill>
                  <a:srgbClr val="1A1A1A"/>
                </a:solidFill>
                <a:latin typeface="Calibri"/>
              </a:rPr>
              <a:t>Checklist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874520"/>
            <a:ext cx="3246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777777"/>
                </a:solidFill>
                <a:latin typeface="Calibri"/>
              </a:rPr>
              <a:t>21 items (QC1–QC21)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777777"/>
                </a:solidFill>
                <a:latin typeface="Calibri"/>
              </a:rPr>
              <a:t>7 SRS sections covered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777777"/>
                </a:solidFill>
                <a:latin typeface="Calibri"/>
              </a:rPr>
              <a:t>CRaM-specific, not boilerplate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777777"/>
                </a:solidFill>
                <a:latin typeface="Calibri"/>
              </a:rPr>
              <a:t>Rated: Satisfied / Partially / Not Satisfied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17320"/>
            <a:ext cx="3520440" cy="173736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E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20" y="150876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8A4A"/>
                </a:solidFill>
                <a:latin typeface="Calibri"/>
              </a:rPr>
              <a:t>✓ </a:t>
            </a:r>
            <a:r>
              <a:rPr sz="1400" b="1">
                <a:solidFill>
                  <a:srgbClr val="1A1A1A"/>
                </a:solidFill>
                <a:latin typeface="Calibri"/>
              </a:rPr>
              <a:t>Error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874520"/>
            <a:ext cx="3246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777777"/>
                </a:solidFill>
                <a:latin typeface="Calibri"/>
              </a:rPr>
              <a:t>Errors detected across all 3 required types: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777777"/>
                </a:solidFill>
                <a:latin typeface="Calibri"/>
              </a:rPr>
              <a:t>    Contradiction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777777"/>
                </a:solidFill>
                <a:latin typeface="Calibri"/>
              </a:rPr>
              <a:t>    Omission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777777"/>
                </a:solidFill>
                <a:latin typeface="Calibri"/>
              </a:rPr>
              <a:t>    Authorship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37560"/>
            <a:ext cx="3520440" cy="173736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E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42900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8A4A"/>
                </a:solidFill>
                <a:latin typeface="Calibri"/>
              </a:rPr>
              <a:t>✓ </a:t>
            </a:r>
            <a:r>
              <a:rPr sz="1400" b="1">
                <a:solidFill>
                  <a:srgbClr val="1A1A1A"/>
                </a:solidFill>
                <a:latin typeface="Calibri"/>
              </a:rPr>
              <a:t>Findings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94760"/>
            <a:ext cx="3246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777777"/>
                </a:solidFill>
                <a:latin typeface="Calibri"/>
              </a:rPr>
              <a:t>Findings documented with CRaM analysis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777777"/>
                </a:solidFill>
                <a:latin typeface="Calibri"/>
              </a:rPr>
              <a:t>Context-Result-Analysis structure used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777777"/>
                </a:solidFill>
                <a:latin typeface="Calibri"/>
              </a:rPr>
              <a:t>Severity classifications assigned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777777"/>
                </a:solidFill>
                <a:latin typeface="Calibri"/>
              </a:rPr>
              <a:t>Specific SRS locations cited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337560"/>
            <a:ext cx="3520440" cy="173736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E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80560" y="342900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8A4A"/>
                </a:solidFill>
                <a:latin typeface="Calibri"/>
              </a:rPr>
              <a:t>✓ </a:t>
            </a:r>
            <a:r>
              <a:rPr sz="1400" b="1">
                <a:solidFill>
                  <a:srgbClr val="1A1A1A"/>
                </a:solidFill>
                <a:latin typeface="Calibri"/>
              </a:rPr>
              <a:t>Sign-off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794760"/>
            <a:ext cx="3246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777777"/>
                </a:solidFill>
                <a:latin typeface="Calibri"/>
              </a:rPr>
              <a:t>All 4 team members signed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777777"/>
                </a:solidFill>
                <a:latin typeface="Calibri"/>
              </a:rPr>
              <a:t>Ridwan (Lead), Yuhao,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777777"/>
                </a:solidFill>
                <a:latin typeface="Calibri"/>
              </a:rPr>
              <a:t>Mikhail, Kannan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337560"/>
            <a:ext cx="3520440" cy="173736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E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75320" y="342900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8A4A"/>
                </a:solidFill>
                <a:latin typeface="Calibri"/>
              </a:rPr>
              <a:t>✓ </a:t>
            </a:r>
            <a:r>
              <a:rPr sz="1400" b="1">
                <a:solidFill>
                  <a:srgbClr val="1A1A1A"/>
                </a:solidFill>
                <a:latin typeface="Calibri"/>
              </a:rPr>
              <a:t>Addenda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3794760"/>
            <a:ext cx="3246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777777"/>
                </a:solidFill>
                <a:latin typeface="Calibri"/>
              </a:rPr>
              <a:t>Glossary: 10 terms defined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777777"/>
                </a:solidFill>
                <a:latin typeface="Calibri"/>
              </a:rPr>
              <a:t>4 appendices (Plan, Checklist,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777777"/>
                </a:solidFill>
                <a:latin typeface="Calibri"/>
              </a:rPr>
              <a:t>    Error Detection, Findings)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777777"/>
                </a:solidFill>
                <a:latin typeface="Calibri"/>
              </a:rPr>
              <a:t>5 references cited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120640"/>
            <a:ext cx="11064240" cy="1554480"/>
          </a:xfrm>
          <a:prstGeom prst="roundRect">
            <a:avLst/>
          </a:prstGeom>
          <a:solidFill>
            <a:srgbClr val="E8F5EE"/>
          </a:solidFill>
          <a:ln w="12700">
            <a:solidFill>
              <a:srgbClr val="DE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5212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8A4A"/>
                </a:solidFill>
                <a:latin typeface="Calibri"/>
              </a:rPr>
              <a:t>Overall QC Process Assessment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57784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1">
                <a:solidFill>
                  <a:srgbClr val="1B8A4A"/>
                </a:solidFill>
                <a:latin typeface="Calibri"/>
              </a:rPr>
              <a:t>✓  </a:t>
            </a:r>
            <a:r>
              <a:rPr sz="1100" b="0">
                <a:solidFill>
                  <a:srgbClr val="333333"/>
                </a:solidFill>
                <a:latin typeface="Calibri"/>
              </a:rPr>
              <a:t>Documented plan with target workproduct, context, goals, techniques, roles, and timeline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1B8A4A"/>
                </a:solidFill>
                <a:latin typeface="Calibri"/>
              </a:rPr>
              <a:t>✓  </a:t>
            </a:r>
            <a:r>
              <a:rPr sz="1100" b="0">
                <a:solidFill>
                  <a:srgbClr val="333333"/>
                </a:solidFill>
                <a:latin typeface="Calibri"/>
              </a:rPr>
              <a:t>Self-contained checklist tailored to the Biometric Student Attendance System SRS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1B8A4A"/>
                </a:solidFill>
                <a:latin typeface="Calibri"/>
              </a:rPr>
              <a:t>✓  </a:t>
            </a:r>
            <a:r>
              <a:rPr sz="1100" b="0">
                <a:solidFill>
                  <a:srgbClr val="333333"/>
                </a:solidFill>
                <a:latin typeface="Calibri"/>
              </a:rPr>
              <a:t>Systematic error detection across all three required QC error types (Authorship, Omission, Contradiction)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1B8A4A"/>
                </a:solidFill>
                <a:latin typeface="Calibri"/>
              </a:rPr>
              <a:t>✓  </a:t>
            </a:r>
            <a:r>
              <a:rPr sz="1100" b="0">
                <a:solidFill>
                  <a:srgbClr val="333333"/>
                </a:solidFill>
                <a:latin typeface="Calibri"/>
              </a:rPr>
              <a:t>Findings saved in a retrievable report with structured appendices and complete sign-off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800</Words>
  <Application>Microsoft Office PowerPoint</Application>
  <PresentationFormat>Widescreen</PresentationFormat>
  <Paragraphs>105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Zong Han Chng</cp:lastModifiedBy>
  <cp:revision>2</cp:revision>
  <dcterms:created xsi:type="dcterms:W3CDTF">2013-01-27T09:14:16Z</dcterms:created>
  <dcterms:modified xsi:type="dcterms:W3CDTF">2026-03-19T05:53:14Z</dcterms:modified>
  <cp:category/>
</cp:coreProperties>
</file>